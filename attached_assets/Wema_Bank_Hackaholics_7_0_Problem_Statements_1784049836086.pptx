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3200400"/>
          </a:xfrm>
          <a:prstGeom prst="rect">
            <a:avLst/>
          </a:prstGeom>
          <a:noFill/>
        </p:spPr>
        <p:txBody>
          <a:bodyPr wrap="square">
            <a:spAutoFit/>
          </a:bodyPr>
          <a:lstStyle/>
          <a:p>
            <a:pPr>
              <a:spcAft>
                <a:spcPts val="1000"/>
              </a:spcAft>
              <a:defRPr sz="2200" b="1">
                <a:solidFill>
                  <a:srgbClr val="4A148C"/>
                </a:solidFill>
                <a:latin typeface="Arial"/>
              </a:defRPr>
            </a:pPr>
            <a:r>
              <a:t>WEMA BANK HACKAHOLICS 7.0</a:t>
            </a:r>
          </a:p>
          <a:p>
            <a:pPr>
              <a:spcAft>
                <a:spcPts val="2400"/>
              </a:spcAft>
              <a:defRPr sz="4400" b="1">
                <a:solidFill>
                  <a:srgbClr val="FFFFFF"/>
                </a:solidFill>
                <a:latin typeface="Arial"/>
              </a:defRPr>
            </a:pPr>
            <a:r>
              <a:t>Official Hackathon Problem Statements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none">
            <a:spAutoFit/>
          </a:bodyPr>
          <a:lstStyle/>
          <a:p>
            <a:pPr>
              <a:defRPr sz="3200" b="1">
                <a:solidFill>
                  <a:srgbClr val="000000"/>
                </a:solidFill>
                <a:latin typeface="Arial"/>
              </a:defRPr>
            </a:pPr>
            <a:r>
              <a:t>Two Pillars of Disruption</a:t>
            </a:r>
          </a:p>
        </p:txBody>
      </p:sp>
      <p:sp>
        <p:nvSpPr>
          <p:cNvPr id="4" name="TextBox 3"/>
          <p:cNvSpPr txBox="1"/>
          <p:nvPr/>
        </p:nvSpPr>
        <p:spPr>
          <a:xfrm>
            <a:off x="914400" y="2103120"/>
            <a:ext cx="4754880" cy="4114800"/>
          </a:xfrm>
          <a:prstGeom prst="rect">
            <a:avLst/>
          </a:prstGeom>
          <a:noFill/>
        </p:spPr>
        <p:txBody>
          <a:bodyPr wrap="square">
            <a:spAutoFit/>
          </a:bodyPr>
          <a:lstStyle/>
          <a:p>
            <a:pPr>
              <a:spcAft>
                <a:spcPts val="1400"/>
              </a:spcAft>
              <a:defRPr sz="1400" b="1">
                <a:solidFill>
                  <a:srgbClr val="4A148C"/>
                </a:solidFill>
                <a:latin typeface="Arial"/>
              </a:defRPr>
            </a:pPr>
            <a:r>
              <a:t>01 / OPEN BANKING</a:t>
            </a:r>
          </a:p>
          <a:p>
            <a:pPr>
              <a:spcAft>
                <a:spcPts val="1400"/>
              </a:spcAft>
              <a:defRPr sz="2200" b="1">
                <a:solidFill>
                  <a:srgbClr val="000000"/>
                </a:solidFill>
                <a:latin typeface="Arial"/>
              </a:defRPr>
            </a:pPr>
            <a:r>
              <a:t>Moving Beyond Connection</a:t>
            </a:r>
          </a:p>
          <a:p>
            <a:pPr>
              <a:defRPr sz="1400">
                <a:solidFill>
                  <a:srgbClr val="6E6E7D"/>
                </a:solidFill>
                <a:latin typeface="Arial"/>
              </a:defRPr>
            </a:pPr>
            <a:r>
              <a:t>Data sharing via standardized APIs removes technical barriers, but access alone yields minimal value. The real challenge is determining what happens next: transforming unified data flows into intelligent actions, hyper-personalized models, and measurable customer utility.</a:t>
            </a:r>
          </a:p>
        </p:txBody>
      </p:sp>
      <p:sp>
        <p:nvSpPr>
          <p:cNvPr id="5" name="TextBox 4"/>
          <p:cNvSpPr txBox="1"/>
          <p:nvPr/>
        </p:nvSpPr>
        <p:spPr>
          <a:xfrm>
            <a:off x="6522415" y="2103120"/>
            <a:ext cx="4754880" cy="4114800"/>
          </a:xfrm>
          <a:prstGeom prst="rect">
            <a:avLst/>
          </a:prstGeom>
          <a:noFill/>
        </p:spPr>
        <p:txBody>
          <a:bodyPr wrap="square">
            <a:spAutoFit/>
          </a:bodyPr>
          <a:lstStyle/>
          <a:p>
            <a:pPr>
              <a:spcAft>
                <a:spcPts val="1400"/>
              </a:spcAft>
              <a:defRPr sz="1400" b="1">
                <a:solidFill>
                  <a:srgbClr val="4A148C"/>
                </a:solidFill>
                <a:latin typeface="Arial"/>
              </a:defRPr>
            </a:pPr>
            <a:r>
              <a:t>02 / FINANCIAL INCLUSION</a:t>
            </a:r>
          </a:p>
          <a:p>
            <a:pPr>
              <a:spcAft>
                <a:spcPts val="1400"/>
              </a:spcAft>
              <a:defRPr sz="2200" b="1">
                <a:solidFill>
                  <a:srgbClr val="000000"/>
                </a:solidFill>
                <a:latin typeface="Arial"/>
              </a:defRPr>
            </a:pPr>
            <a:r>
              <a:t>Closing The Utility Gap</a:t>
            </a:r>
          </a:p>
          <a:p>
            <a:pPr>
              <a:defRPr sz="1400">
                <a:solidFill>
                  <a:srgbClr val="6E6E7D"/>
                </a:solidFill>
                <a:latin typeface="Arial"/>
              </a:defRPr>
            </a:pPr>
            <a:r>
              <a:t>Millions of Nigerians remain outside the formal banking perimeter because modern applications fail to align with how they naturally acquire, store, and utilize capital. True adoption requires reinventing ecosystem integration while respecting regulatory guardrails like tiered KYC.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none">
            <a:spAutoFit/>
          </a:bodyPr>
          <a:lstStyle/>
          <a:p>
            <a:pPr>
              <a:defRPr sz="3200" b="1">
                <a:solidFill>
                  <a:srgbClr val="000000"/>
                </a:solidFill>
                <a:latin typeface="Arial"/>
              </a:defRPr>
            </a:pPr>
            <a:r>
              <a:t>Problem Statement 1: Open Banking</a:t>
            </a:r>
          </a:p>
        </p:txBody>
      </p:sp>
      <p:sp>
        <p:nvSpPr>
          <p:cNvPr id="4" name="TextBox 3"/>
          <p:cNvSpPr txBox="1"/>
          <p:nvPr/>
        </p:nvSpPr>
        <p:spPr>
          <a:xfrm>
            <a:off x="914400" y="2011680"/>
            <a:ext cx="10362895" cy="4114800"/>
          </a:xfrm>
          <a:prstGeom prst="rect">
            <a:avLst/>
          </a:prstGeom>
          <a:noFill/>
        </p:spPr>
        <p:txBody>
          <a:bodyPr wrap="square">
            <a:spAutoFit/>
          </a:bodyPr>
          <a:lstStyle/>
          <a:p>
            <a:pPr>
              <a:spcAft>
                <a:spcPts val="1000"/>
              </a:spcAft>
              <a:defRPr sz="1200" b="1">
                <a:solidFill>
                  <a:srgbClr val="4A148C"/>
                </a:solidFill>
                <a:latin typeface="Arial"/>
              </a:defRPr>
            </a:pPr>
            <a:r>
              <a:t>THE CORE PREMISE</a:t>
            </a:r>
          </a:p>
          <a:p>
            <a:pPr>
              <a:spcAft>
                <a:spcPts val="2400"/>
              </a:spcAft>
              <a:defRPr sz="2000">
                <a:solidFill>
                  <a:srgbClr val="000000"/>
                </a:solidFill>
                <a:latin typeface="Arial"/>
              </a:defRPr>
            </a:pPr>
            <a:r>
              <a:t>Open Banking makes it possible for customers to securely share their financial data across banks, fintechs, and digital platforms through standardized APIs.</a:t>
            </a:r>
          </a:p>
          <a:p>
            <a:pPr>
              <a:spcAft>
                <a:spcPts val="1000"/>
              </a:spcAft>
              <a:defRPr sz="1200" b="1">
                <a:solidFill>
                  <a:srgbClr val="D32F2F"/>
                </a:solidFill>
                <a:latin typeface="Arial"/>
              </a:defRPr>
            </a:pPr>
            <a:r>
              <a:t>THE BOTTLENECK</a:t>
            </a:r>
          </a:p>
          <a:p>
            <a:pPr>
              <a:defRPr sz="1600">
                <a:solidFill>
                  <a:srgbClr val="6E6E7D"/>
                </a:solidFill>
                <a:latin typeface="Arial"/>
              </a:defRPr>
            </a:pPr>
            <a:r>
              <a:t>Simply aggregating account balances, transaction histories, or payment information creates little value if it does not lead to better financial decisions, new services, or improved customer experiences.</a:t>
            </a:r>
            <a:br/>
            <a:br/>
            <a:r>
              <a:t>The next generation of financial innovation will not be defined by who has access to the data, but by what they do with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none">
            <a:spAutoFit/>
          </a:bodyPr>
          <a:lstStyle/>
          <a:p>
            <a:pPr>
              <a:defRPr sz="3200" b="1">
                <a:solidFill>
                  <a:srgbClr val="000000"/>
                </a:solidFill>
                <a:latin typeface="Arial"/>
              </a:defRPr>
            </a:pPr>
            <a:r>
              <a:t>Transformative Action</a:t>
            </a:r>
          </a:p>
        </p:txBody>
      </p:sp>
      <p:sp>
        <p:nvSpPr>
          <p:cNvPr id="4" name="TextBox 3"/>
          <p:cNvSpPr txBox="1"/>
          <p:nvPr/>
        </p:nvSpPr>
        <p:spPr>
          <a:xfrm>
            <a:off x="914400" y="2011680"/>
            <a:ext cx="3200400" cy="4114800"/>
          </a:xfrm>
          <a:prstGeom prst="rect">
            <a:avLst/>
          </a:prstGeom>
          <a:noFill/>
        </p:spPr>
        <p:txBody>
          <a:bodyPr wrap="square">
            <a:spAutoFit/>
          </a:bodyPr>
          <a:lstStyle/>
          <a:p>
            <a:pPr>
              <a:spcAft>
                <a:spcPts val="1200"/>
              </a:spcAft>
              <a:defRPr sz="1800" b="1">
                <a:solidFill>
                  <a:srgbClr val="000000"/>
                </a:solidFill>
                <a:latin typeface="Arial"/>
              </a:defRPr>
            </a:pPr>
            <a:r>
              <a:t>Intelligent Action</a:t>
            </a:r>
          </a:p>
          <a:p>
            <a:pPr>
              <a:defRPr sz="1400">
                <a:solidFill>
                  <a:srgbClr val="6E6E7D"/>
                </a:solidFill>
                <a:latin typeface="Arial"/>
              </a:defRPr>
            </a:pPr>
            <a:r>
              <a:t>Go beyond simple data fetching. Turn static balance aggregates into actionable triggers and automated operational workflows.</a:t>
            </a:r>
          </a:p>
        </p:txBody>
      </p:sp>
      <p:sp>
        <p:nvSpPr>
          <p:cNvPr id="5" name="TextBox 4"/>
          <p:cNvSpPr txBox="1"/>
          <p:nvPr/>
        </p:nvSpPr>
        <p:spPr>
          <a:xfrm>
            <a:off x="4495190" y="2011680"/>
            <a:ext cx="3200400" cy="4114800"/>
          </a:xfrm>
          <a:prstGeom prst="rect">
            <a:avLst/>
          </a:prstGeom>
          <a:noFill/>
        </p:spPr>
        <p:txBody>
          <a:bodyPr wrap="square">
            <a:spAutoFit/>
          </a:bodyPr>
          <a:lstStyle/>
          <a:p>
            <a:pPr>
              <a:spcAft>
                <a:spcPts val="1200"/>
              </a:spcAft>
              <a:defRPr sz="1800" b="1">
                <a:solidFill>
                  <a:srgbClr val="000000"/>
                </a:solidFill>
                <a:latin typeface="Arial"/>
              </a:defRPr>
            </a:pPr>
            <a:r>
              <a:t>Embedded Experiences</a:t>
            </a:r>
          </a:p>
          <a:p>
            <a:pPr>
              <a:defRPr sz="1400">
                <a:solidFill>
                  <a:srgbClr val="6E6E7D"/>
                </a:solidFill>
                <a:latin typeface="Arial"/>
              </a:defRPr>
            </a:pPr>
            <a:r>
              <a:t>Integrate financial rails smoothly into non-banking interfaces, matching lifestyle, logistics, commerce, and business environments.</a:t>
            </a:r>
          </a:p>
        </p:txBody>
      </p:sp>
      <p:sp>
        <p:nvSpPr>
          <p:cNvPr id="6" name="TextBox 5"/>
          <p:cNvSpPr txBox="1"/>
          <p:nvPr/>
        </p:nvSpPr>
        <p:spPr>
          <a:xfrm>
            <a:off x="8076895" y="2011680"/>
            <a:ext cx="3200400" cy="4114800"/>
          </a:xfrm>
          <a:prstGeom prst="rect">
            <a:avLst/>
          </a:prstGeom>
          <a:noFill/>
        </p:spPr>
        <p:txBody>
          <a:bodyPr wrap="square">
            <a:spAutoFit/>
          </a:bodyPr>
          <a:lstStyle/>
          <a:p>
            <a:pPr>
              <a:spcAft>
                <a:spcPts val="1200"/>
              </a:spcAft>
              <a:defRPr sz="1800" b="1">
                <a:solidFill>
                  <a:srgbClr val="000000"/>
                </a:solidFill>
                <a:latin typeface="Arial"/>
              </a:defRPr>
            </a:pPr>
            <a:r>
              <a:t>New Business Models</a:t>
            </a:r>
          </a:p>
          <a:p>
            <a:pPr>
              <a:defRPr sz="1400">
                <a:solidFill>
                  <a:srgbClr val="6E6E7D"/>
                </a:solidFill>
                <a:latin typeface="Arial"/>
              </a:defRPr>
            </a:pPr>
            <a:r>
              <a:t>Architect entirely new monetization and utility models that create tangible, measurable value for banks, merchants, and final consumers.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48495" cy="3657600"/>
          </a:xfrm>
          <a:prstGeom prst="rect">
            <a:avLst/>
          </a:prstGeom>
          <a:noFill/>
        </p:spPr>
        <p:txBody>
          <a:bodyPr wrap="square">
            <a:spAutoFit/>
          </a:bodyPr>
          <a:lstStyle/>
          <a:p>
            <a:pPr algn="ctr">
              <a:spcAft>
                <a:spcPts val="2000"/>
              </a:spcAft>
              <a:defRPr sz="1400" b="1">
                <a:solidFill>
                  <a:srgbClr val="4A148C"/>
                </a:solidFill>
                <a:latin typeface="Arial"/>
              </a:defRPr>
            </a:pPr>
            <a:r>
              <a:t>THE CHALLENGE QUESTION</a:t>
            </a:r>
          </a:p>
          <a:p>
            <a:pPr algn="ctr">
              <a:spcAft>
                <a:spcPts val="2400"/>
              </a:spcAft>
              <a:defRPr sz="4000" b="1">
                <a:solidFill>
                  <a:srgbClr val="FFFFFF"/>
                </a:solidFill>
                <a:latin typeface="Arial"/>
              </a:defRPr>
            </a:pPr>
            <a:r>
              <a:t>“Once the APIs are connected...</a:t>
            </a:r>
            <a:br/>
            <a:r>
              <a:t>what happens next?”</a:t>
            </a:r>
          </a:p>
          <a:p>
            <a:pPr algn="ctr">
              <a:defRPr sz="1400" i="1">
                <a:solidFill>
                  <a:srgbClr val="B4B4C3"/>
                </a:solidFill>
                <a:latin typeface="Arial"/>
              </a:defRPr>
            </a:pPr>
            <a:r>
              <a:t>Note: Your solution doesn’t necessarily have to be pure banking, but it must possess an analytical or practical financial implication.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none">
            <a:spAutoFit/>
          </a:bodyPr>
          <a:lstStyle/>
          <a:p>
            <a:pPr>
              <a:defRPr sz="3200" b="1">
                <a:solidFill>
                  <a:srgbClr val="000000"/>
                </a:solidFill>
                <a:latin typeface="Arial"/>
              </a:defRPr>
            </a:pPr>
            <a:r>
              <a:t>Problem Statement 2: Financial Inclusion</a:t>
            </a:r>
          </a:p>
        </p:txBody>
      </p:sp>
      <p:sp>
        <p:nvSpPr>
          <p:cNvPr id="4" name="TextBox 3"/>
          <p:cNvSpPr txBox="1"/>
          <p:nvPr/>
        </p:nvSpPr>
        <p:spPr>
          <a:xfrm>
            <a:off x="914400" y="2011680"/>
            <a:ext cx="10362895" cy="4114800"/>
          </a:xfrm>
          <a:prstGeom prst="rect">
            <a:avLst/>
          </a:prstGeom>
          <a:noFill/>
        </p:spPr>
        <p:txBody>
          <a:bodyPr wrap="square">
            <a:spAutoFit/>
          </a:bodyPr>
          <a:lstStyle/>
          <a:p>
            <a:pPr>
              <a:spcAft>
                <a:spcPts val="1000"/>
              </a:spcAft>
              <a:defRPr sz="1200" b="1">
                <a:solidFill>
                  <a:srgbClr val="4A148C"/>
                </a:solidFill>
                <a:latin typeface="Arial"/>
              </a:defRPr>
            </a:pPr>
            <a:r>
              <a:t>THE REALITY</a:t>
            </a:r>
          </a:p>
          <a:p>
            <a:pPr>
              <a:spcAft>
                <a:spcPts val="2400"/>
              </a:spcAft>
              <a:defRPr sz="2000">
                <a:solidFill>
                  <a:srgbClr val="000000"/>
                </a:solidFill>
                <a:latin typeface="Arial"/>
              </a:defRPr>
            </a:pPr>
            <a:r>
              <a:t>Millions of Nigerians still do not use formal financial services. Many own accounts they rarely use because traditional offerings do not fit how they naturally earn, save, borrow, or execute transactions.</a:t>
            </a:r>
          </a:p>
          <a:p>
            <a:pPr>
              <a:spcAft>
                <a:spcPts val="1000"/>
              </a:spcAft>
              <a:defRPr sz="1200" b="1">
                <a:solidFill>
                  <a:srgbClr val="6E6E7D"/>
                </a:solidFill>
                <a:latin typeface="Arial"/>
              </a:defRPr>
            </a:pPr>
            <a:r>
              <a:t>THE EVOLUTIONARY SHIFT</a:t>
            </a:r>
          </a:p>
          <a:p>
            <a:pPr>
              <a:defRPr sz="1600">
                <a:solidFill>
                  <a:srgbClr val="6E6E7D"/>
                </a:solidFill>
                <a:latin typeface="Arial"/>
              </a:defRPr>
            </a:pPr>
            <a:r>
              <a:t>Agency banking, mobile money, and USSD have successfully built the base connectivity infrastructure. The ongoing hurdle is no longer raw access; it is ensuring formal utility becomes an organic, daily necessity.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914400"/>
          </a:xfrm>
          <a:prstGeom prst="rect">
            <a:avLst/>
          </a:prstGeom>
          <a:noFill/>
        </p:spPr>
        <p:txBody>
          <a:bodyPr wrap="none">
            <a:spAutoFit/>
          </a:bodyPr>
          <a:lstStyle/>
          <a:p>
            <a:pPr>
              <a:defRPr sz="3200" b="1">
                <a:solidFill>
                  <a:srgbClr val="000000"/>
                </a:solidFill>
                <a:latin typeface="Arial"/>
              </a:defRPr>
            </a:pPr>
            <a:r>
              <a:t>Closing The Utility Gap</a:t>
            </a:r>
          </a:p>
        </p:txBody>
      </p:sp>
      <p:sp>
        <p:nvSpPr>
          <p:cNvPr id="4" name="TextBox 3"/>
          <p:cNvSpPr txBox="1"/>
          <p:nvPr/>
        </p:nvSpPr>
        <p:spPr>
          <a:xfrm>
            <a:off x="914400" y="2011680"/>
            <a:ext cx="3200400" cy="4114800"/>
          </a:xfrm>
          <a:prstGeom prst="rect">
            <a:avLst/>
          </a:prstGeom>
          <a:noFill/>
        </p:spPr>
        <p:txBody>
          <a:bodyPr wrap="square">
            <a:spAutoFit/>
          </a:bodyPr>
          <a:lstStyle/>
          <a:p>
            <a:pPr>
              <a:spcAft>
                <a:spcPts val="1200"/>
              </a:spcAft>
              <a:defRPr sz="1800" b="1">
                <a:solidFill>
                  <a:srgbClr val="000000"/>
                </a:solidFill>
                <a:latin typeface="Arial"/>
              </a:defRPr>
            </a:pPr>
            <a:r>
              <a:t>Rethink Integration</a:t>
            </a:r>
          </a:p>
          <a:p>
            <a:pPr>
              <a:defRPr sz="1400">
                <a:solidFill>
                  <a:srgbClr val="6E6E7D"/>
                </a:solidFill>
                <a:latin typeface="Arial"/>
              </a:defRPr>
            </a:pPr>
            <a:r>
              <a:t>Do not build another generic wallet app. Instead, analyze the specific real-world bottlenecks preventing informal cash flows from shifting seamlessly into digital ledgers.</a:t>
            </a:r>
          </a:p>
        </p:txBody>
      </p:sp>
      <p:sp>
        <p:nvSpPr>
          <p:cNvPr id="5" name="TextBox 4"/>
          <p:cNvSpPr txBox="1"/>
          <p:nvPr/>
        </p:nvSpPr>
        <p:spPr>
          <a:xfrm>
            <a:off x="4495190" y="2011680"/>
            <a:ext cx="3200400" cy="4114800"/>
          </a:xfrm>
          <a:prstGeom prst="rect">
            <a:avLst/>
          </a:prstGeom>
          <a:noFill/>
        </p:spPr>
        <p:txBody>
          <a:bodyPr wrap="square">
            <a:spAutoFit/>
          </a:bodyPr>
          <a:lstStyle/>
          <a:p>
            <a:pPr>
              <a:spcAft>
                <a:spcPts val="1200"/>
              </a:spcAft>
              <a:defRPr sz="1800" b="1">
                <a:solidFill>
                  <a:srgbClr val="000000"/>
                </a:solidFill>
                <a:latin typeface="Arial"/>
              </a:defRPr>
            </a:pPr>
            <a:r>
              <a:t>Regulatory Compliance</a:t>
            </a:r>
          </a:p>
          <a:p>
            <a:pPr>
              <a:defRPr sz="1400">
                <a:solidFill>
                  <a:srgbClr val="6E6E7D"/>
                </a:solidFill>
                <a:latin typeface="Arial"/>
              </a:defRPr>
            </a:pPr>
            <a:r>
              <a:t>Respect the vital integrity constraints. Solutions must embed compliance natively, handling customer validation, BVN verification, and tiered KYC frictionlessly.</a:t>
            </a:r>
          </a:p>
        </p:txBody>
      </p:sp>
      <p:sp>
        <p:nvSpPr>
          <p:cNvPr id="6" name="TextBox 5"/>
          <p:cNvSpPr txBox="1"/>
          <p:nvPr/>
        </p:nvSpPr>
        <p:spPr>
          <a:xfrm>
            <a:off x="8076895" y="2011680"/>
            <a:ext cx="3200400" cy="4114800"/>
          </a:xfrm>
          <a:prstGeom prst="rect">
            <a:avLst/>
          </a:prstGeom>
          <a:noFill/>
        </p:spPr>
        <p:txBody>
          <a:bodyPr wrap="square">
            <a:spAutoFit/>
          </a:bodyPr>
          <a:lstStyle/>
          <a:p>
            <a:pPr>
              <a:spcAft>
                <a:spcPts val="1200"/>
              </a:spcAft>
              <a:defRPr sz="1800" b="1">
                <a:solidFill>
                  <a:srgbClr val="000000"/>
                </a:solidFill>
                <a:latin typeface="Arial"/>
              </a:defRPr>
            </a:pPr>
            <a:r>
              <a:t>Everyday Relevance</a:t>
            </a:r>
          </a:p>
          <a:p>
            <a:pPr>
              <a:defRPr sz="1400">
                <a:solidFill>
                  <a:srgbClr val="6E6E7D"/>
                </a:solidFill>
                <a:latin typeface="Arial"/>
              </a:defRPr>
            </a:pPr>
            <a:r>
              <a:t>Adapt directly to standard grassroots commerce cycles, micro-earning models, cooperative community frameworks, and localized informal trade systems.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48495" cy="3657600"/>
          </a:xfrm>
          <a:prstGeom prst="rect">
            <a:avLst/>
          </a:prstGeom>
          <a:noFill/>
        </p:spPr>
        <p:txBody>
          <a:bodyPr wrap="square">
            <a:spAutoFit/>
          </a:bodyPr>
          <a:lstStyle/>
          <a:p>
            <a:pPr algn="ctr">
              <a:spcAft>
                <a:spcPts val="2000"/>
              </a:spcAft>
              <a:defRPr sz="1400" b="1">
                <a:solidFill>
                  <a:srgbClr val="4A148C"/>
                </a:solidFill>
                <a:latin typeface="Arial"/>
              </a:defRPr>
            </a:pPr>
            <a:r>
              <a:t>THE CHALLENGE QUESTION</a:t>
            </a:r>
          </a:p>
          <a:p>
            <a:pPr algn="ctr">
              <a:defRPr sz="3000" b="1">
                <a:solidFill>
                  <a:srgbClr val="FFFFFF"/>
                </a:solidFill>
                <a:latin typeface="Arial"/>
              </a:defRPr>
            </a:pPr>
            <a:r>
              <a:t>“What is stopping people from fully participating in the formal financial system, and how can your solution solve or remove that barrier?”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